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240280"/>
            <a:ext cx="1737360" cy="82296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49ECA"/>
                </a:solidFill>
                <a:latin typeface="Plus Jakarta Sans"/>
              </a:rPr>
              <a:t>REACT.JS + TYPESCRIPT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7899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5000" b="1" i="0">
                <a:solidFill>
                  <a:srgbClr val="FFFFFF"/>
                </a:solidFill>
                <a:latin typeface="Plus Jakarta Sans"/>
              </a:rPr>
              <a:t>React 19 </a:t>
            </a:r>
            <a:r>
              <a:rPr sz="5000" b="1" i="0">
                <a:solidFill>
                  <a:srgbClr val="149ECA"/>
                </a:solidFill>
                <a:latin typeface="Plus Jakarta Sans"/>
              </a:rPr>
              <a:t>Form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77639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C9D6E4"/>
                </a:solidFill>
                <a:latin typeface="Inter"/>
              </a:rPr>
              <a:t>Submit forms the built-in way — pending state, results, and optimistic UI, no libraries.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547104"/>
            <a:ext cx="100584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FFFFFF"/>
                </a:solidFill>
                <a:latin typeface="Inter"/>
              </a:rPr>
              <a:t>React.js + TypeScript Training  -  React 19 Form Actions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What you'll be able to 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19 Form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1783080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01368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Explain what a form Action is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2624328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642616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Track pending + result with useActionState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3465576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483864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Show optimistic UI with useOptimistic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4306824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325112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Read pending state with useFormStatus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5148072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5166360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Choose Actions vs React Hook Form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React 19 builds form handling in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19 Form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Submitting used to need lots of state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Loading, errors, results — all manual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Actions handle that flow for you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Less code, no extra libraries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React 19 Actions let a form submit run a function while React tracks pending and result.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Actions &amp; useActionState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19 Form 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What is a form Action?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19 Form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A function passed to  &lt;form action={fn}&gt;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Runs when the form submits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Receives the form’s  FormData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Can be async — React awaits 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An Action is the function React runs on submit; it gets the form data automatically.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ANALOGY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Actions, in plain terms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19 Form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10927080" cy="3291840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1463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0" b="1" i="0">
                <a:solidFill>
                  <a:srgbClr val="149ECA"/>
                </a:solidFill>
                <a:latin typeface="Plus Jakarta Sans"/>
              </a:rP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743200"/>
            <a:ext cx="905256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1">
                <a:solidFill>
                  <a:srgbClr val="1A2433"/>
                </a:solidFill>
                <a:latin typeface="Inter"/>
              </a:rPr>
              <a:t>An Action is a self-checkout: you scan your items (the form data), press pay, and the machine handles the transaction and tells you done or try again — no clerk wiring needed.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useActionState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19 Form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Wraps an action, tracks its result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Returns  [state, action, isPending]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state is your action’s return value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isPending is true while it runs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useActionState remembers the action’s result and tells you when it’s still running.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SignupForm.tsx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19 Form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3977639"/>
          </a:xfrm>
          <a:prstGeom prst="roundRect">
            <a:avLst/>
          </a:prstGeom>
          <a:solidFill>
            <a:srgbClr val="0E172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842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9842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9842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515600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import { useActionState } from "react";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type Result = { message: string };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async function submit(_prev: Result, data: FormData)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const email = data.get("email") as string;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return { message: `Saved ${email}` };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}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function SignupForm()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const [state, action, pending] =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useActionState(submit, { message: "" });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return &lt;FormBody action={action} pending={pending}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message={state.message} /&gt;;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7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475569"/>
                </a:solidFill>
                <a:latin typeface="Inter"/>
              </a:rPr>
              <a:t>useActionState wires the async action and exposes pending + result.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FormBody.tsx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19 Form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3977639"/>
          </a:xfrm>
          <a:prstGeom prst="roundRect">
            <a:avLst/>
          </a:prstGeom>
          <a:solidFill>
            <a:srgbClr val="0E172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842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9842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9842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515600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function FormBody({ action, pending, message }: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action: (fd: FormData) =&gt; void;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pending: boolean; message: string;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})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return (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&lt;form action={action}&gt;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  &lt;input name="email" /&gt;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  &lt;button disabled={pending}&gt;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    {pending ? "Saving..." : "Sign up"}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  &lt;/button&gt;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  &lt;p&gt;{message}&lt;/p&gt;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&lt;/form&gt;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7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475569"/>
                </a:solidFill>
                <a:latin typeface="Inter"/>
              </a:rPr>
              <a:t>The action drives the form; pending disables the button live.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How an Action submit flows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19 Form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34640"/>
            <a:ext cx="2388870" cy="1463040"/>
          </a:xfrm>
          <a:prstGeom prst="roundRect">
            <a:avLst/>
          </a:prstGeom>
          <a:solidFill>
            <a:srgbClr val="149EC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Submit</a:t>
            </a:r>
          </a:p>
          <a:p>
            <a:pPr algn="ctr">
              <a:spcBef>
                <a:spcPts val="300"/>
              </a:spcBef>
            </a:pPr>
            <a:r>
              <a:rPr sz="1150">
                <a:solidFill>
                  <a:srgbClr val="E3F0F7"/>
                </a:solidFill>
                <a:latin typeface="Inter"/>
              </a:rPr>
              <a:t>form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83814" y="2834640"/>
            <a:ext cx="347472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475569"/>
                </a:solidFill>
                <a:latin typeface="Plus Jakarta San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6150" y="2834640"/>
            <a:ext cx="2388870" cy="1463040"/>
          </a:xfrm>
          <a:prstGeom prst="roundRect">
            <a:avLst/>
          </a:prstGeom>
          <a:solidFill>
            <a:srgbClr val="0B6D8C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Action runs</a:t>
            </a:r>
          </a:p>
          <a:p>
            <a:pPr algn="ctr">
              <a:spcBef>
                <a:spcPts val="300"/>
              </a:spcBef>
            </a:pPr>
            <a:r>
              <a:rPr sz="1150">
                <a:solidFill>
                  <a:srgbClr val="E3F0F7"/>
                </a:solidFill>
                <a:latin typeface="Inter"/>
              </a:rPr>
              <a:t>pending = true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9884" y="2834640"/>
            <a:ext cx="347472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475569"/>
                </a:solidFill>
                <a:latin typeface="Plus Jakarta San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32220" y="2834640"/>
            <a:ext cx="2388870" cy="1463040"/>
          </a:xfrm>
          <a:prstGeom prst="roundRect">
            <a:avLst/>
          </a:prstGeom>
          <a:solidFill>
            <a:srgbClr val="3178C6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Resolves</a:t>
            </a:r>
          </a:p>
          <a:p>
            <a:pPr algn="ctr">
              <a:spcBef>
                <a:spcPts val="300"/>
              </a:spcBef>
            </a:pPr>
            <a:r>
              <a:rPr sz="1150">
                <a:solidFill>
                  <a:srgbClr val="E3F0F7"/>
                </a:solidFill>
                <a:latin typeface="Inter"/>
              </a:rPr>
              <a:t>returns 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5954" y="2834640"/>
            <a:ext cx="347472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475569"/>
                </a:solidFill>
                <a:latin typeface="Plus Jakarta San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78290" y="2834640"/>
            <a:ext cx="2388870" cy="14630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Re-render</a:t>
            </a:r>
          </a:p>
          <a:p>
            <a:pPr algn="ctr">
              <a:spcBef>
                <a:spcPts val="300"/>
              </a:spcBef>
            </a:pPr>
            <a:r>
              <a:rPr sz="1150">
                <a:solidFill>
                  <a:srgbClr val="E3F0F7"/>
                </a:solidFill>
                <a:latin typeface="Inter"/>
              </a:rPr>
              <a:t>show result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useOptimistic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19 Form 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OPTIMISTIC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What is optimistic UI?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19 Form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Show the result before the server replies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The UI feels instant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Roll back automatically if it fails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Great for likes, todos, messages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Optimistic UI updates the screen immediately, assuming the request will succeed.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OPTIMISTIC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useOptimistic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19 Form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Give it the real, confirmed value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Returns an optimistic copy to show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Apply the change instantly on submit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React reverts if the action fails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useOptimistic shows a temporary value during the action, then syncs to the real one.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LikeButton.tsx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19 Form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3977639"/>
          </a:xfrm>
          <a:prstGeom prst="roundRect">
            <a:avLst/>
          </a:prstGeom>
          <a:solidFill>
            <a:srgbClr val="0E172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842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9842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9842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515600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import { useOptimistic } from "react";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function Likes({ count, like }: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count: number; like: () =&gt; Promise&lt;void&gt;;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})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const [shown, addOptimistic] =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useOptimistic(count, (c) =&gt; c + 1);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return (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&lt;button onClick={() =&gt; { addOptimistic(0); like(); }}&gt;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  Likes: {shown}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&lt;/button&gt;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7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475569"/>
                </a:solidFill>
                <a:latin typeface="Inter"/>
              </a:rPr>
              <a:t>The count jumps immediately; React reverts if like() fails.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Actions vs React Hook 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19 Form 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Which should you reach for?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19 Form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Actions: simple submits, pending, results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Actions: built in, zero dependencies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RHF + Zod: complex, richly validated forms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RHF: field-level errors and schemas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Use Actions for simple submits; use React Hook Form for big, heavily validated forms.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Actions vs React Hook 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19 Form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74519"/>
          <a:ext cx="10927080" cy="28346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566160"/>
                <a:gridCol w="7360920"/>
              </a:tblGrid>
              <a:tr h="5669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Plus Jakarta Sans"/>
                        </a:rPr>
                        <a:t>Need</a:t>
                      </a:r>
                    </a:p>
                  </a:txBody>
                  <a:tcPr anchor="ctr" marL="128016" marR="12801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Plus Jakarta Sans"/>
                        </a:rPr>
                        <a:t>Reach for</a:t>
                      </a:r>
                    </a:p>
                  </a:txBody>
                  <a:tcPr anchor="ctr" marL="128016" marR="128016">
                    <a:solidFill>
                      <a:srgbClr val="0B1F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A2433"/>
                          </a:solidFill>
                          <a:latin typeface="Inter"/>
                        </a:rPr>
                        <a:t>Simple submit + pending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React 19 Actions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A2433"/>
                          </a:solidFill>
                          <a:latin typeface="Inter"/>
                        </a:rPr>
                        <a:t>Optimistic UI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Actions (useOptimistic)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A2433"/>
                          </a:solidFill>
                          <a:latin typeface="Inter"/>
                        </a:rPr>
                        <a:t>Complex field validation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React Hook Form + Zod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A2433"/>
                          </a:solidFill>
                          <a:latin typeface="Inter"/>
                        </a:rPr>
                        <a:t>Schema-inferred types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React Hook Form + Zod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HELPER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useFormStatus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19 Form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Reads the parent form’s pending state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Call it inside a child component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No prop drilling of  pending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Perfect for a reusable submit button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257800"/>
            <a:ext cx="10927080" cy="105156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257800"/>
            <a:ext cx="118872" cy="1051560"/>
          </a:xfrm>
          <a:prstGeom prst="rect">
            <a:avLst/>
          </a:prstGeom>
          <a:solidFill>
            <a:srgbClr val="0B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385816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✦  TIP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71500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2433"/>
                </a:solidFill>
                <a:latin typeface="Inter"/>
              </a:rPr>
              <a:t>Inside a form, const { pending } = useFormStatus() lets a Submit button know it’s submitting — no props needed.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Your turn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19 Form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Build a comment form with an Action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Return  { ok: true }  from the action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Disable the button while pending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Show a ‘Posted!’ message on success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257800"/>
            <a:ext cx="10927080" cy="1051560"/>
          </a:xfrm>
          <a:prstGeom prst="roundRect">
            <a:avLst/>
          </a:prstGeom>
          <a:solidFill>
            <a:srgbClr val="E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257800"/>
            <a:ext cx="118872" cy="1051560"/>
          </a:xfrm>
          <a:prstGeom prst="rect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385816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E9E6A"/>
                </a:solidFill>
                <a:latin typeface="Plus Jakarta Sans"/>
              </a:rPr>
              <a:t>▶  TRY IT YOURSELF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71500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2433"/>
                </a:solidFill>
                <a:latin typeface="Inter"/>
              </a:rPr>
              <a:t>const [state, action, pending] = useActionState(post, { ok: false });  &lt;form action={action}&gt;…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Common mistakes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19 Form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Using onSubmit instead of  action={fn}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Forgetting the action’s  prevState  arg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Optimistic update with no rollback path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Reaching for a library for a simple 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257800"/>
            <a:ext cx="10927080" cy="1051560"/>
          </a:xfrm>
          <a:prstGeom prst="roundRect">
            <a:avLst/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257800"/>
            <a:ext cx="118872" cy="1051560"/>
          </a:xfrm>
          <a:prstGeom prst="rect">
            <a:avLst/>
          </a:prstGeom>
          <a:solidFill>
            <a:srgbClr val="C97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385816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97A0E"/>
                </a:solidFill>
                <a:latin typeface="Plus Jakarta Sans"/>
              </a:rPr>
              <a:t>⚠  WATCH 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71500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2433"/>
                </a:solidFill>
                <a:latin typeface="Inter"/>
              </a:rPr>
              <a:t>A useActionState action’s first arg is the previous state — its signature is (prevState, formData).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19 Form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21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189280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Actions run a function on &lt;form action={fn}&gt;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276148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74319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useActionState tracks result and pending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63016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61187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useOptimistic shows instant, revertible updates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449884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48055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useFormStatus reads pending without props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" y="536752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534923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Actions for simple; RHF + Zod for complex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19 Form 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Question 1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19 Form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1A2433"/>
                </a:solidFill>
                <a:latin typeface="Plus Jakarta Sans"/>
              </a:rPr>
              <a:t>What does useActionState return?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971800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108960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71800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[state, action, isPending]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13048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950208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813048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just the pending flag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54296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791456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654296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[value, setValue]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95544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5632704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495544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a validation schema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Question 2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19 Form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1A2433"/>
                </a:solidFill>
                <a:latin typeface="Plus Jakarta Sans"/>
              </a:rPr>
              <a:t>What is an action’s first argument?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971800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108960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71800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The FormData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13048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950208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813048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The previous state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54296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791456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654296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The event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95544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5632704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495544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The component props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Question 3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19 Form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1A2433"/>
                </a:solidFill>
                <a:latin typeface="Plus Jakarta Sans"/>
              </a:rPr>
              <a:t>What does useOptimistic do?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971800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108960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71800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Validates fields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13048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950208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813048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Shows a temporary value during the action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54296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791456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654296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Caches network requests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95544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5632704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495544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Replaces useState everywhere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Question 4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19 Form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1A2433"/>
                </a:solidFill>
                <a:latin typeface="Plus Jakarta Sans"/>
              </a:rPr>
              <a:t>For a complex, richly validated form, prefer…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971800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108960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71800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React 19 Actions alone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13048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950208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813048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React Hook Form + Zod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54296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791456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654296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Plain useState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95544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5632704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495544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No validation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Answer key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React 19 Form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83080"/>
            <a:ext cx="10881360" cy="932688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2002536"/>
            <a:ext cx="502920" cy="502920"/>
          </a:xfrm>
          <a:prstGeom prst="ellipse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lus Jakarta Sans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901952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6D8C"/>
                </a:solidFill>
                <a:latin typeface="Plus Jakarta Sans"/>
              </a:rPr>
              <a:t>Q1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useActionState returns [state, action, isPending].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843784"/>
            <a:ext cx="10881360" cy="932688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3063240"/>
            <a:ext cx="502920" cy="502920"/>
          </a:xfrm>
          <a:prstGeom prst="ellipse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962656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6D8C"/>
                </a:solidFill>
                <a:latin typeface="Plus Jakarta Sans"/>
              </a:rPr>
              <a:t>Q2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The action signature is (prevState, formData).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904488"/>
            <a:ext cx="10881360" cy="932688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" y="4123944"/>
            <a:ext cx="502920" cy="502920"/>
          </a:xfrm>
          <a:prstGeom prst="ellipse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023360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6D8C"/>
                </a:solidFill>
                <a:latin typeface="Plus Jakarta Sans"/>
              </a:rPr>
              <a:t>Q3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useOptimistic shows a temporary value, reverting on failure.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65192"/>
            <a:ext cx="10881360" cy="932688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5184648"/>
            <a:ext cx="502920" cy="502920"/>
          </a:xfrm>
          <a:prstGeom prst="ellipse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5084064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6D8C"/>
                </a:solidFill>
                <a:latin typeface="Plus Jakarta Sans"/>
              </a:rPr>
              <a:t>Q4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RHF + Zod handles complex field-level validation best.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