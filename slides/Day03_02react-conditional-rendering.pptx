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240280"/>
            <a:ext cx="1737360" cy="82296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49ECA"/>
                </a:solidFill>
                <a:latin typeface="Plus Jakarta Sans"/>
              </a:rPr>
              <a:t>REACT.JS + TYPESCRIPT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7899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5000" b="1" i="0">
                <a:solidFill>
                  <a:srgbClr val="FFFFFF"/>
                </a:solidFill>
                <a:latin typeface="Plus Jakarta Sans"/>
              </a:rPr>
              <a:t>Conditional </a:t>
            </a:r>
            <a:r>
              <a:rPr sz="5000" b="1" i="0">
                <a:solidFill>
                  <a:srgbClr val="149ECA"/>
                </a:solidFill>
                <a:latin typeface="Plus Jakarta Sans"/>
              </a:rPr>
              <a:t>Rendering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77639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C9D6E4"/>
                </a:solidFill>
                <a:latin typeface="Inter"/>
              </a:rPr>
              <a:t>Show the right UI for the right state — cleanly, safely, and without leaks.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547104"/>
            <a:ext cx="1005840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FFFFFF"/>
                </a:solidFill>
                <a:latin typeface="Inter"/>
              </a:rPr>
              <a:t>React.js + TypeScript Training  -  Conditional Rendering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What you'll be able to do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Conditional Rendering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1783080"/>
            <a:ext cx="502920" cy="502920"/>
          </a:xfrm>
          <a:prstGeom prst="ellipse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6D8C"/>
                </a:solidFill>
                <a:latin typeface="Plus Jakarta San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01368"/>
            <a:ext cx="10058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Render UI conditionally with ternaries and &amp;&amp;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2624328"/>
            <a:ext cx="502920" cy="502920"/>
          </a:xfrm>
          <a:prstGeom prst="ellipse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6D8C"/>
                </a:solidFill>
                <a:latin typeface="Plus Jakarta San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642616"/>
            <a:ext cx="10058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Use early returns and guard components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3465576"/>
            <a:ext cx="502920" cy="502920"/>
          </a:xfrm>
          <a:prstGeom prst="ellipse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6D8C"/>
                </a:solidFill>
                <a:latin typeface="Plus Jakarta San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483864"/>
            <a:ext cx="10058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Toggle components and styles from state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4306824"/>
            <a:ext cx="502920" cy="502920"/>
          </a:xfrm>
          <a:prstGeom prst="ellipse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6D8C"/>
                </a:solidFill>
                <a:latin typeface="Plus Jakarta Sans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325112"/>
            <a:ext cx="10058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Model UI states with a discriminated union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5148072"/>
            <a:ext cx="502920" cy="502920"/>
          </a:xfrm>
          <a:prstGeom prst="ellipse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6D8C"/>
                </a:solidFill>
                <a:latin typeface="Plus Jakarta Sans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5166360"/>
            <a:ext cx="10058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Avoid the classic &amp;&amp; rendering leak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WHY THIS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Real UIs show different things at different times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Conditional Rendering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Loading spinners, errors, empty states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Logged-in vs logged-out views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Show or hide based on your data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Clean conditions keep components readable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Conditional rendering is choosing which JSX to show based on the current state or props.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331720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600" b="1" i="0">
                <a:solidFill>
                  <a:srgbClr val="1E3A5C"/>
                </a:solidFill>
                <a:latin typeface="Plus Jakarta San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70332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Plus Jakarta Sans"/>
              </a:rPr>
              <a:t>The core techniques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520440"/>
            <a:ext cx="1463040" cy="73152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Conditional Rendering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TECHNIQUES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The ternary — either / 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Conditional Rendering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Pick between two elements inline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cond ? &lt;A /&gt; : &lt;B /&gt;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Great inside JSX with  { }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Use when you always show one of two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A ternary chooses A when the condition is true, otherwise B — always one of the two.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Greeting.tsx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Conditional Rendering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27080" cy="3977639"/>
          </a:xfrm>
          <a:prstGeom prst="roundRect">
            <a:avLst/>
          </a:prstGeom>
          <a:solidFill>
            <a:srgbClr val="0E172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984248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4712" y="1984248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80744" y="1984248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10515600" cy="3246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type Props = { user: string | null };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function Greeting({ user }: Props)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return (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&lt;p&gt;{user ? `Hi, ${user}` : "Please log in"}&lt;/p&gt;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70447"/>
            <a:ext cx="10927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475569"/>
                </a:solidFill>
                <a:latin typeface="Inter"/>
              </a:rPr>
              <a:t>A ternary picks one of two outputs — here, greeting vs prompt.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TECHNIQUES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Logical AND — show or nothing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Conditional Rendering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cond &amp;&amp; &lt;Thing /&gt;  shows only when true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Renders nothing when the condition is false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Ideal for optional, show-if-present UI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No ‘else’ branch needed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cond &amp;&amp; &lt;X/&gt; shows X only when cond is true; when false, it renders nothing.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Inbox.tsx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Conditional Rendering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27080" cy="3977639"/>
          </a:xfrm>
          <a:prstGeom prst="roundRect">
            <a:avLst/>
          </a:prstGeom>
          <a:solidFill>
            <a:srgbClr val="0E172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984248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4712" y="1984248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80744" y="1984248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10515600" cy="3246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type Props = { count: number };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function Inbox({ count }: Props)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return (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&lt;div&gt;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  {count &gt; 0 &amp;&amp; &lt;span&gt;{count} new messages&lt;/span&gt;}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&lt;/div&gt;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70447"/>
            <a:ext cx="10927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475569"/>
                </a:solidFill>
                <a:latin typeface="Inter"/>
              </a:rPr>
              <a:t>&amp;&amp; renders the badge only when count is greater than zero.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331720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600" b="1" i="0">
                <a:solidFill>
                  <a:srgbClr val="1E3A5C"/>
                </a:solidFill>
                <a:latin typeface="Plus Jakarta San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70332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Plus Jakarta Sans"/>
              </a:rPr>
              <a:t>Early returns &amp; guards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520440"/>
            <a:ext cx="1463040" cy="73152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Conditional Rendering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Early returns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Conditional Rendering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Return early for edge cases first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Handle loading / empty, then the main UI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Keeps the happy path flat and clear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Avoids deeply nested ternaries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An early return bails out for special cases up top, so the main render stays simple.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Profile.tsx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Conditional Rendering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27080" cy="3977639"/>
          </a:xfrm>
          <a:prstGeom prst="roundRect">
            <a:avLst/>
          </a:prstGeom>
          <a:solidFill>
            <a:srgbClr val="0E172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984248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4712" y="1984248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80744" y="1984248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10515600" cy="3246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type Props = { user: User | null };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function Profile({ user }: Props)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if (!user) return &lt;p&gt;Loading...&lt;/p&gt;;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// user is now guaranteed non-null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return &lt;h1&gt;{user.name}&lt;/h1&gt;;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70447"/>
            <a:ext cx="10927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475569"/>
                </a:solidFill>
                <a:latin typeface="Inter"/>
              </a:rPr>
              <a:t>Return early for the null case; below it, user is safely narrowed.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Guard components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Conditional Rendering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A wrapper that renders only if allowed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Returns null to render nothing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Reuse one gate across many screens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Keeps access rules in one place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A guard component wraps children and shows them only when a condition passes.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Authed.tsx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Conditional Rendering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27080" cy="3977639"/>
          </a:xfrm>
          <a:prstGeom prst="roundRect">
            <a:avLst/>
          </a:prstGeom>
          <a:solidFill>
            <a:srgbClr val="0E172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984248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4712" y="1984248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80744" y="1984248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10515600" cy="3246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import type { ReactNode } from "react";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type Props = { ok: boolean; children: ReactNode };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function Authed({ ok, children }: Props)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if (!ok) return null;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return &lt;&gt;{children}&lt;/&gt;;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}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// &lt;Authed ok={isLoggedIn}&gt;&lt;Dashboard /&gt;&lt;/Authed&gt;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70447"/>
            <a:ext cx="10927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475569"/>
                </a:solidFill>
                <a:latin typeface="Inter"/>
              </a:rPr>
              <a:t>A guard renders its children only when ok is true, else nothing.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331720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600" b="1" i="0">
                <a:solidFill>
                  <a:srgbClr val="1E3A5C"/>
                </a:solidFill>
                <a:latin typeface="Plus Jakarta San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70332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Plus Jakarta Sans"/>
              </a:rPr>
              <a:t>Toggling UI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520440"/>
            <a:ext cx="1463040" cy="73152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Conditional Rendering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TOGGLING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Toggle components and styles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Conditional Rendering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Flip a boolean in state to switch UI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Swap which component renders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Or swap a className for styles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Drives menus, tabs, dark mode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Store a boolean in state and use it to switch components or classes on and off.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Toggle.tsx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Conditional Rendering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27080" cy="3977639"/>
          </a:xfrm>
          <a:prstGeom prst="roundRect">
            <a:avLst/>
          </a:prstGeom>
          <a:solidFill>
            <a:srgbClr val="0E172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984248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4712" y="1984248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80744" y="1984248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10515600" cy="3246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import { useState } from "react";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function Panel()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const [open, setOpen] = useState(false);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return (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&lt;button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  className={open ? "panel open" : "panel"}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  onClick={() =&gt; setOpen(o =&gt; !o)}&gt;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  {open ? "Hide" : "Show"}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&lt;/button&gt;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70447"/>
            <a:ext cx="10927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475569"/>
                </a:solidFill>
                <a:latin typeface="Inter"/>
              </a:rPr>
              <a:t>One boolean toggles both the label and the className.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331720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600" b="1" i="0">
                <a:solidFill>
                  <a:srgbClr val="1E3A5C"/>
                </a:solidFill>
                <a:latin typeface="Plus Jakarta San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70332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Plus Jakarta Sans"/>
              </a:rPr>
              <a:t>Discriminated unions for UI state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520440"/>
            <a:ext cx="1463040" cy="73152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Conditional Rendering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MODELING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Discriminated unions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Conditional Rendering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Model each UI state as its own shape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A shared  status  field tells them apart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Only valid combinations are possible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TypeScript narrows on the status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A discriminated union lists the exact states your UI can be in, tagged by a status field.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ANALOGY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Discriminated unions, in plain terms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Conditional Rendering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03120"/>
            <a:ext cx="10927080" cy="3291840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1463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0" b="1" i="0">
                <a:solidFill>
                  <a:srgbClr val="149ECA"/>
                </a:solidFill>
                <a:latin typeface="Plus Jakarta Sans"/>
              </a:rPr>
              <a:t>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743200"/>
            <a:ext cx="905256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 i="1">
                <a:solidFill>
                  <a:srgbClr val="1A2433"/>
                </a:solidFill>
                <a:latin typeface="Inter"/>
              </a:rPr>
              <a:t>Like a train’s status board: a slot is either ‘On time’, ‘Delayed’ with a reason, or ‘Cancelled’ — never a muddle of half-set fields at once.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state.ts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Conditional Rendering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27080" cy="3977639"/>
          </a:xfrm>
          <a:prstGeom prst="roundRect">
            <a:avLst/>
          </a:prstGeom>
          <a:solidFill>
            <a:srgbClr val="0E172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984248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4712" y="1984248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80744" y="1984248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10515600" cy="3246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type State =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| { status: "loading" }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| { status: "error"; message: string }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| { status: "success"; data: string[] };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70447"/>
            <a:ext cx="10927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475569"/>
                </a:solidFill>
                <a:latin typeface="Inter"/>
              </a:rPr>
              <a:t>Three exact states, each tagged by a shared status field.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View.tsx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Conditional Rendering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27080" cy="3977639"/>
          </a:xfrm>
          <a:prstGeom prst="roundRect">
            <a:avLst/>
          </a:prstGeom>
          <a:solidFill>
            <a:srgbClr val="0E172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984248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4712" y="1984248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80744" y="1984248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10515600" cy="3246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function View({ state }: { state: State })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switch (state.status)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case "loading":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  return &lt;Spinner /&gt;;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case "error":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  return &lt;p&gt;{state.message}&lt;/p&gt;;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case "success":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  return &lt;List items={state.data} /&gt;;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}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70447"/>
            <a:ext cx="10927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475569"/>
                </a:solidFill>
                <a:latin typeface="Inter"/>
              </a:rPr>
              <a:t>Switch on status; TS narrows so state.data exists only in success.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DATA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One state maps to one 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Conditional Rendering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34640"/>
            <a:ext cx="2388870" cy="1463040"/>
          </a:xfrm>
          <a:prstGeom prst="roundRect">
            <a:avLst/>
          </a:prstGeom>
          <a:solidFill>
            <a:srgbClr val="149EC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Plus Jakarta Sans"/>
              </a:rPr>
              <a:t>status</a:t>
            </a:r>
          </a:p>
          <a:p>
            <a:pPr algn="ctr">
              <a:spcBef>
                <a:spcPts val="300"/>
              </a:spcBef>
            </a:pPr>
            <a:r>
              <a:rPr sz="1150">
                <a:solidFill>
                  <a:srgbClr val="E3F0F7"/>
                </a:solidFill>
                <a:latin typeface="Inter"/>
              </a:rPr>
              <a:t>the tag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83814" y="2834640"/>
            <a:ext cx="347472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475569"/>
                </a:solidFill>
                <a:latin typeface="Plus Jakarta San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86150" y="2834640"/>
            <a:ext cx="2388870" cy="1463040"/>
          </a:xfrm>
          <a:prstGeom prst="roundRect">
            <a:avLst/>
          </a:prstGeom>
          <a:solidFill>
            <a:srgbClr val="0B6D8C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Plus Jakarta Sans"/>
              </a:rPr>
              <a:t>loading</a:t>
            </a:r>
          </a:p>
          <a:p>
            <a:pPr algn="ctr">
              <a:spcBef>
                <a:spcPts val="300"/>
              </a:spcBef>
            </a:pPr>
            <a:r>
              <a:rPr sz="1150">
                <a:solidFill>
                  <a:srgbClr val="E3F0F7"/>
                </a:solidFill>
                <a:latin typeface="Inter"/>
              </a:rPr>
              <a:t>&lt;Spinner /&gt;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9884" y="2834640"/>
            <a:ext cx="347472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475569"/>
                </a:solidFill>
                <a:latin typeface="Plus Jakarta San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32220" y="2834640"/>
            <a:ext cx="2388870" cy="1463040"/>
          </a:xfrm>
          <a:prstGeom prst="roundRect">
            <a:avLst/>
          </a:prstGeom>
          <a:solidFill>
            <a:srgbClr val="3178C6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Plus Jakarta Sans"/>
              </a:rPr>
              <a:t>error</a:t>
            </a:r>
          </a:p>
          <a:p>
            <a:pPr algn="ctr">
              <a:spcBef>
                <a:spcPts val="300"/>
              </a:spcBef>
            </a:pPr>
            <a:r>
              <a:rPr sz="1150">
                <a:solidFill>
                  <a:srgbClr val="E3F0F7"/>
                </a:solidFill>
                <a:latin typeface="Inter"/>
              </a:rPr>
              <a:t>&lt;Message /&gt;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5954" y="2834640"/>
            <a:ext cx="347472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475569"/>
                </a:solidFill>
                <a:latin typeface="Plus Jakarta San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78290" y="2834640"/>
            <a:ext cx="2388870" cy="14630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Plus Jakarta Sans"/>
              </a:rPr>
              <a:t>success</a:t>
            </a:r>
          </a:p>
          <a:p>
            <a:pPr algn="ctr">
              <a:spcBef>
                <a:spcPts val="300"/>
              </a:spcBef>
            </a:pPr>
            <a:r>
              <a:rPr sz="1150">
                <a:solidFill>
                  <a:srgbClr val="E3F0F7"/>
                </a:solidFill>
                <a:latin typeface="Inter"/>
              </a:rPr>
              <a:t>&lt;List /&gt;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Your turn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Conditional Rendering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Model a  Toggle  UI state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Union of  { on: true }  |  { on: false }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Render ‘ON’ in green, ‘OFF’ in grey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Switch on the tag to pick the 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257800"/>
            <a:ext cx="10927080" cy="1051560"/>
          </a:xfrm>
          <a:prstGeom prst="roundRect">
            <a:avLst/>
          </a:prstGeom>
          <a:solidFill>
            <a:srgbClr val="E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257800"/>
            <a:ext cx="118872" cy="1051560"/>
          </a:xfrm>
          <a:prstGeom prst="rect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385816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E9E6A"/>
                </a:solidFill>
                <a:latin typeface="Plus Jakarta Sans"/>
              </a:rPr>
              <a:t>▶  TRY IT YOURSELF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571500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2433"/>
                </a:solidFill>
                <a:latin typeface="Inter"/>
              </a:rPr>
              <a:t>type S = { on: true } | { on: false };  then  return s.on ? &lt;b&gt;ON&lt;/b&gt; : &lt;span&gt;OFF&lt;/span&gt;;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Common mistakes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Conditional Rendering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{count &amp;&amp; &lt;X/&gt;} renders a stray  0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Deeply nested ternaries no one can read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Forgetting a case in the union switch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Booleans for states that aren’t two-way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257800"/>
            <a:ext cx="10927080" cy="1051560"/>
          </a:xfrm>
          <a:prstGeom prst="roundRect">
            <a:avLst/>
          </a:prstGeom>
          <a:solidFill>
            <a:srgbClr val="FD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257800"/>
            <a:ext cx="118872" cy="1051560"/>
          </a:xfrm>
          <a:prstGeom prst="rect">
            <a:avLst/>
          </a:prstGeom>
          <a:solidFill>
            <a:srgbClr val="C97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385816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97A0E"/>
                </a:solidFill>
                <a:latin typeface="Plus Jakarta Sans"/>
              </a:rPr>
              <a:t>⚠  WATCH 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571500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2433"/>
                </a:solidFill>
                <a:latin typeface="Inter"/>
              </a:rPr>
              <a:t>{count &amp;&amp; &lt;X/&gt;} prints 0 when count is 0 — use  {count &gt; 0 &amp;&amp; &lt;X/&gt;}  so the test is a real boolean.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Conditional Rendering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25</a:t>
            </a:r>
          </a:p>
        </p:txBody>
      </p:sp>
      <p:sp>
        <p:nvSpPr>
          <p:cNvPr id="7" name="Oval 6"/>
          <p:cNvSpPr/>
          <p:nvPr/>
        </p:nvSpPr>
        <p:spPr>
          <a:xfrm>
            <a:off x="658368" y="1892807"/>
            <a:ext cx="365760" cy="365760"/>
          </a:xfrm>
          <a:prstGeom prst="ellipse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2412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Ternary for either/or; &amp;&amp; for show-or-nothing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2761487"/>
            <a:ext cx="365760" cy="365760"/>
          </a:xfrm>
          <a:prstGeom prst="ellipse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743199"/>
            <a:ext cx="102412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Early returns keep the happy path flat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3630167"/>
            <a:ext cx="365760" cy="365760"/>
          </a:xfrm>
          <a:prstGeom prst="ellipse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611879"/>
            <a:ext cx="102412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Guard components gate what renders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4498847"/>
            <a:ext cx="365760" cy="365760"/>
          </a:xfrm>
          <a:prstGeom prst="ellipse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480559"/>
            <a:ext cx="102412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Toggle UI and styles from a boolean</a:t>
            </a:r>
          </a:p>
        </p:txBody>
      </p:sp>
      <p:sp>
        <p:nvSpPr>
          <p:cNvPr id="15" name="Oval 14"/>
          <p:cNvSpPr/>
          <p:nvPr/>
        </p:nvSpPr>
        <p:spPr>
          <a:xfrm>
            <a:off x="658368" y="5367527"/>
            <a:ext cx="365760" cy="365760"/>
          </a:xfrm>
          <a:prstGeom prst="ellipse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5349239"/>
            <a:ext cx="102412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Discriminated unions make bad states impossible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331720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600" b="1" i="0">
                <a:solidFill>
                  <a:srgbClr val="1E3A5C"/>
                </a:solidFill>
                <a:latin typeface="Plus Jakarta San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70332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Plus Jakarta Sans"/>
              </a:rPr>
              <a:t>Check your understanding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520440"/>
            <a:ext cx="1463040" cy="73152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Conditional Rendering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CHECK YOUR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Question 1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Conditional Rendering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1A2433"/>
                </a:solidFill>
                <a:latin typeface="Plus Jakarta Sans"/>
              </a:rPr>
              <a:t>Which renders one of two elements inline?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971800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3108960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971800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cond &amp;&amp; &lt;A /&gt;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813048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3950208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813048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cond ? &lt;A /&gt; : &lt;B /&gt;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654296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4791456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654296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if (cond) &lt;A /&gt;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495544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" y="5632704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495544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&lt;A /&gt; || &lt;B /&gt;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CHECK YOUR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Question 2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Conditional Rendering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1A2433"/>
                </a:solidFill>
                <a:latin typeface="Plus Jakarta Sans"/>
              </a:rPr>
              <a:t>Why can  {count &amp;&amp; &lt;Badge/&gt;}  render a stray 0?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971800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3108960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971800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0 is truthy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813048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3950208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813048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&amp;&amp; returns 0 when count is 0, and React shows 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654296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4791456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654296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React can’t render numbers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495544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" y="5632704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495544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Badge returns 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CHECK YOUR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Question 3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Conditional Rendering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1A2433"/>
                </a:solidFill>
                <a:latin typeface="Plus Jakarta Sans"/>
              </a:rPr>
              <a:t>What tells a discriminated union’s members apart?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971800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3108960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971800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Their length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813048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3950208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813048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A shared literal tag like  status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654296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4791456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654296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The file name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495544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" y="5632704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495544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Nothing — they’re identical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CHECK YOUR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Question 4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Conditional Rendering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1A2433"/>
                </a:solidFill>
                <a:latin typeface="Plus Jakarta Sans"/>
              </a:rPr>
              <a:t>What does a guard component return to render nothing?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971800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3108960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971800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undefined only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813048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3950208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813048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false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654296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4791456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654296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null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495544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" y="5632704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495544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an empty string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CHECK YOUR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Answer key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Conditional Rendering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31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83080"/>
            <a:ext cx="10881360" cy="932688"/>
          </a:xfrm>
          <a:prstGeom prst="round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2002536"/>
            <a:ext cx="502920" cy="502920"/>
          </a:xfrm>
          <a:prstGeom prst="ellipse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901952"/>
            <a:ext cx="9692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6D8C"/>
                </a:solidFill>
                <a:latin typeface="Plus Jakarta Sans"/>
              </a:rPr>
              <a:t>Q1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A ternary always renders one of its two branches.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843784"/>
            <a:ext cx="10881360" cy="932688"/>
          </a:xfrm>
          <a:prstGeom prst="round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8680" y="3063240"/>
            <a:ext cx="502920" cy="502920"/>
          </a:xfrm>
          <a:prstGeom prst="ellipse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962656"/>
            <a:ext cx="9692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6D8C"/>
                </a:solidFill>
                <a:latin typeface="Plus Jakarta Sans"/>
              </a:rPr>
              <a:t>Q2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&amp;&amp; evaluates to 0, and React renders the number 0.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904488"/>
            <a:ext cx="10881360" cy="932688"/>
          </a:xfrm>
          <a:prstGeom prst="round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68680" y="4123944"/>
            <a:ext cx="502920" cy="502920"/>
          </a:xfrm>
          <a:prstGeom prst="ellipse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4023360"/>
            <a:ext cx="9692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6D8C"/>
                </a:solidFill>
                <a:latin typeface="Plus Jakarta Sans"/>
              </a:rPr>
              <a:t>Q3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A shared literal tag (e.g. status) discriminates the members.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65192"/>
            <a:ext cx="10881360" cy="932688"/>
          </a:xfrm>
          <a:prstGeom prst="round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5184648"/>
            <a:ext cx="502920" cy="502920"/>
          </a:xfrm>
          <a:prstGeom prst="ellipse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Plus Jakarta Sans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5084064"/>
            <a:ext cx="9692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6D8C"/>
                </a:solidFill>
                <a:latin typeface="Plus Jakarta Sans"/>
              </a:rPr>
              <a:t>Q4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Returning null tells React to render nothing.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