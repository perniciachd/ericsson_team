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2240280"/>
            <a:ext cx="1737360" cy="82296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149ECA"/>
                </a:solidFill>
                <a:latin typeface="Plus Jakarta Sans"/>
              </a:rPr>
              <a:t>REACT.JS + TYPESCRIPT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7899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 i="0">
                <a:solidFill>
                  <a:srgbClr val="FFFFFF"/>
                </a:solidFill>
                <a:latin typeface="Plus Jakarta Sans"/>
              </a:rPr>
              <a:t>Custom </a:t>
            </a:r>
            <a:r>
              <a:rPr sz="5400" b="1" i="0">
                <a:solidFill>
                  <a:srgbClr val="149ECA"/>
                </a:solidFill>
                <a:latin typeface="Plus Jakarta Sans"/>
              </a:rPr>
              <a:t>Hooks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977639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C9D6E4"/>
                </a:solidFill>
                <a:latin typeface="Inter"/>
              </a:rPr>
              <a:t>Extract reusable, typed logic once — then share it across every component.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B6D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6547104"/>
            <a:ext cx="10058400" cy="3017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FFFFFF"/>
                </a:solidFill>
                <a:latin typeface="Inter"/>
              </a:rPr>
              <a:t>React.js + TypeScript Training  -  Custom Hooks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What you'll be able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</a:t>
            </a:r>
          </a:p>
        </p:txBody>
      </p:sp>
      <p:sp>
        <p:nvSpPr>
          <p:cNvPr id="7" name="Oval 6"/>
          <p:cNvSpPr/>
          <p:nvPr/>
        </p:nvSpPr>
        <p:spPr>
          <a:xfrm>
            <a:off x="685800" y="1783080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801368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Follow the rules of hooks correctly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2624328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642616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Spot logic worth extracting into a hook</a:t>
            </a:r>
          </a:p>
        </p:txBody>
      </p:sp>
      <p:sp>
        <p:nvSpPr>
          <p:cNvPr id="11" name="Oval 10"/>
          <p:cNvSpPr/>
          <p:nvPr/>
        </p:nvSpPr>
        <p:spPr>
          <a:xfrm>
            <a:off x="685800" y="3465576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3483864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Build useToggle, useDebounce, useLocalStorage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4306824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4325112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Type custom hooks with generics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5148072"/>
            <a:ext cx="502920" cy="502920"/>
          </a:xfrm>
          <a:prstGeom prst="ellipse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0B6D8C"/>
                </a:solidFill>
                <a:latin typeface="Plus Jakarta Sans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5166360"/>
            <a:ext cx="100584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Choose a tuple vs object return shape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Custom hooks are reusable logic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 same stateful logic repeats everywhere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custom hook packages it once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Components stay small and readable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Fully typed and easy to test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custom hook is a function that reuses React state logic across many components.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Rules &amp; when to extract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RULES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The rules of hooks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Only call hooks at the top level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Never inside loops, ifs, or nested funcs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Only call hooks from React functions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Custom hook names start with  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Hooks must run in the same order every render, so call them unconditionally at the top.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JUDGEMENT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When to extract a hook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 same logic appears in two places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component mixes many concerns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State + effect belong together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You want to name and test the logic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Extract a hook when stateful logic repeats or clutters a component — not before.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ANALOGY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Custom hooks, in plain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103120"/>
            <a:ext cx="10927080" cy="3291840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23160"/>
            <a:ext cx="146304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0" b="1" i="0">
                <a:solidFill>
                  <a:srgbClr val="149ECA"/>
                </a:solidFill>
                <a:latin typeface="Plus Jakarta Sans"/>
              </a:rPr>
              <a:t>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2743200"/>
            <a:ext cx="9052560" cy="2194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0" i="1">
                <a:solidFill>
                  <a:srgbClr val="1A2433"/>
                </a:solidFill>
                <a:latin typeface="Inter"/>
              </a:rPr>
              <a:t>A custom hook is a kitchen appliance: the blender hides the motor and blades behind one button, so every recipe reuses it without rewiring the machine.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Building your first hook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ANATOMY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 hook is just a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plain function whose name starts  use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It can call other hooks inside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It returns whatever the caller needs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No JSX — logic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custom hook is an ordinary function that uses hooks and returns values, not markup.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useToggle.ts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import { useState, useCallback } from "react";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useToggle(initial = false)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[on, setOn] = useState(initial);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toggle = useCallback(() =&gt; setOn(o =&gt; !o), []);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[on, toggle] as const;   // typed tuple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const [open, toggleOpen] = useToggle();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A tiny hook returning a typed [state, toggle] tuple via as const.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DATA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How a custom hook fits in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2388870" cy="1463040"/>
          </a:xfrm>
          <a:prstGeom prst="roundRect">
            <a:avLst/>
          </a:prstGeom>
          <a:solidFill>
            <a:srgbClr val="149EC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Component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calls the hook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8381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86150" y="2834640"/>
            <a:ext cx="2388870" cy="1463040"/>
          </a:xfrm>
          <a:prstGeom prst="roundRect">
            <a:avLst/>
          </a:prstGeom>
          <a:solidFill>
            <a:srgbClr val="0B6D8C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Custom hook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useToggle()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2988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32220" y="2834640"/>
            <a:ext cx="2388870" cy="1463040"/>
          </a:xfrm>
          <a:prstGeom prst="roundRect">
            <a:avLst/>
          </a:prstGeom>
          <a:solidFill>
            <a:srgbClr val="3178C6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Built-in hooks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useState, etc.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5954" y="2834640"/>
            <a:ext cx="347472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475569"/>
                </a:solidFill>
                <a:latin typeface="Plus Jakarta San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78290" y="2834640"/>
            <a:ext cx="2388870" cy="14630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/>
          <a:lstStyle/>
          <a:p>
            <a:pPr algn="ctr"/>
            <a:r>
              <a:rPr sz="1600" b="1">
                <a:solidFill>
                  <a:srgbClr val="FFFFFF"/>
                </a:solidFill>
                <a:latin typeface="Plus Jakarta Sans"/>
              </a:rPr>
              <a:t>Returns</a:t>
            </a:r>
          </a:p>
          <a:p>
            <a:pPr algn="ctr">
              <a:spcBef>
                <a:spcPts val="300"/>
              </a:spcBef>
            </a:pPr>
            <a:r>
              <a:rPr sz="1150">
                <a:solidFill>
                  <a:srgbClr val="E3F0F7"/>
                </a:solidFill>
                <a:latin typeface="Inter"/>
              </a:rPr>
              <a:t>state + actions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Typing hooks with generics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TYPING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Generics make hooks reusable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generic  &lt;T&gt;  adapts to any value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useLocalStorage&lt;T&gt; stores any typed data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The return type follows  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One hook, every type, fully safe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 generic lets a single hook work for numbers, users, or anything — with correct types.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useLocalStorage.ts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useLocalStorage&lt;T&gt;(key: string, initial: T)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[value, setValue] = useState&lt;T&gt;(()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const raw = localStorage.getItem(key);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return raw ? (JSON.parse(raw) as T) : initial;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});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useEffect(()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localStorage.setItem(key, JSON.stringify(value));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}, [key, value]);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[value, setValue] as const;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A generic hook: &lt;T&gt; flows from initial value to the typed return.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Return shape &amp; API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RETURN SHAPE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Tuple vs object return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Tuple: caller names the values freely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Best for 2 values, like useState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Object: self-documenting, any order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Best for 3+ named values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Return a tuple for one or two values; return an object once there are several named ones.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Choosing a return shape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874519"/>
          <a:ext cx="10927080" cy="2834640"/>
        </p:xfrm>
        <a:graphic>
          <a:graphicData uri="http://schemas.openxmlformats.org/drawingml/2006/table">
            <a:tbl>
              <a:tblPr firstRow="0" bandRow="0">
                <a:tableStyleId>{5C22544A-7EE6-4342-B048-85BDC9FD1C3A}</a:tableStyleId>
              </a:tblPr>
              <a:tblGrid>
                <a:gridCol w="3108960"/>
                <a:gridCol w="7818120"/>
              </a:tblGrid>
              <a:tr h="566928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Return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Plus Jakarta Sans"/>
                        </a:rPr>
                        <a:t>Use when</a:t>
                      </a:r>
                    </a:p>
                  </a:txBody>
                  <a:tcPr anchor="ctr" marL="128016" marR="128016">
                    <a:solidFill>
                      <a:srgbClr val="0B1F3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[value, setValue]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Two values, rename freely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{ data, error, loading }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Several named values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as const on a tuple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Lock the exact types</a:t>
                      </a:r>
                    </a:p>
                  </a:txBody>
                  <a:tcPr anchor="ctr" marL="128016" marR="128016" marT="54864" marB="54864">
                    <a:solidFill>
                      <a:srgbClr val="F5F8FB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1">
                          <a:solidFill>
                            <a:srgbClr val="1A2433"/>
                          </a:solidFill>
                          <a:latin typeface="JetBrains Mono"/>
                        </a:rPr>
                        <a:t>a single value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5000"/>
                        </a:lnSpc>
                      </a:pPr>
                      <a:r>
                        <a:rPr sz="1300" b="0">
                          <a:solidFill>
                            <a:srgbClr val="475569"/>
                          </a:solidFill>
                          <a:latin typeface="Inter"/>
                        </a:rPr>
                        <a:t>The hook returns just one</a:t>
                      </a:r>
                    </a:p>
                  </a:txBody>
                  <a:tcPr anchor="ctr" marL="128016" marR="128016" marT="54864" marB="5486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useFetch.ts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useFetch&lt;T&gt;(url: string)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[data, setData] = useState&lt;T | null&gt;(null);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[error, setError] = useState&lt;string | null&gt;(null);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[loading, setLoading] = useState(true);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// ...fetch in an effect, set the three states...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{ data, error, loading };   // named object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// const { data, loading } = useFetch&lt;User[]&gt;(url);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Three named values? Return an object, not a hard-to-read tuple.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Compose hooks from hooks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Hooks can call other custom hooks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useDebounce inside a useSearch hook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Build big behaviour from small ones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Each stays small and testable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074920"/>
            <a:ext cx="10927080" cy="960120"/>
          </a:xfrm>
          <a:prstGeom prst="roundRect">
            <a:avLst/>
          </a:prstGeom>
          <a:solidFill>
            <a:srgbClr val="E7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074920"/>
            <a:ext cx="100584" cy="96012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5193792"/>
            <a:ext cx="1042416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0B6D8C"/>
                </a:solidFill>
                <a:latin typeface="Plus Jakarta Sans"/>
              </a:rPr>
              <a:t>PLAIN ENGLISH 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Custom hooks can use other custom hooks, letting you build features from small pieces.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useDebounce.ts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83080"/>
            <a:ext cx="10927080" cy="3977639"/>
          </a:xfrm>
          <a:prstGeom prst="roundRect">
            <a:avLst/>
          </a:prstGeom>
          <a:solidFill>
            <a:srgbClr val="0E172A"/>
          </a:solidFill>
          <a:ln>
            <a:noFill/>
          </a:ln>
          <a:effectLst>
            <a:outerShdw blurRad="90000" dist="38100" dir="5400000" rotWithShape="0">
              <a:srgbClr val="0B1F3A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124712" y="1984248"/>
            <a:ext cx="146304" cy="146304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380744" y="1984248"/>
            <a:ext cx="146304" cy="146304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331720"/>
            <a:ext cx="10515600" cy="32461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function useDebounce&lt;T&gt;(value: T, ms = 300)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const [debounced, setDebounced] = useState(value);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useEffect(() =&gt; {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const id = setTimeout(() =&gt; setDebounced(value), ms);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  return () =&gt; clearTimeout(id);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}, [value, ms]);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  return debounced;   // single typed value</a:t>
            </a:r>
          </a:p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400">
                <a:solidFill>
                  <a:srgbClr val="E6EDF3"/>
                </a:solidFill>
                <a:latin typeface="JetBrains Mono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70447"/>
            <a:ext cx="10927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1">
                <a:solidFill>
                  <a:srgbClr val="475569"/>
                </a:solidFill>
                <a:latin typeface="Inter"/>
              </a:rPr>
              <a:t>A generic useDebounce you can drop inside a useSearch hook.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HANDS-ON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Your turn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Build a generic  useToggle  hook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Return  [on, toggle]  as a tuple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Add a  reset  to make it an object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Use it to open and close a modal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E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E9E6A"/>
                </a:solidFill>
                <a:latin typeface="Plus Jakarta Sans"/>
              </a:rPr>
              <a:t>▶  TRY IT YOURSELF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return { on, toggle, reset } as const;  then  const { on, toggle } = useToggle();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Common mistakes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83080"/>
            <a:ext cx="1083564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Calling a hook inside an if or loop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Naming a hook without the  use  prefix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Forgetting  as const  on a tuple</a:t>
            </a:r>
          </a:p>
          <a:p>
            <a:pPr>
              <a:lnSpc>
                <a:spcPct val="112000"/>
              </a:lnSpc>
              <a:spcBef>
                <a:spcPts val="0"/>
              </a:spcBef>
              <a:spcAft>
                <a:spcPts val="1300"/>
              </a:spcAft>
            </a:pPr>
            <a:r>
              <a:rPr sz="1800" b="1">
                <a:solidFill>
                  <a:srgbClr val="149ECA"/>
                </a:solidFill>
                <a:latin typeface="Inter"/>
              </a:rPr>
              <a:t>▪  </a:t>
            </a:r>
            <a:r>
              <a:rPr sz="1800">
                <a:solidFill>
                  <a:srgbClr val="1A2433"/>
                </a:solidFill>
                <a:latin typeface="Inter"/>
              </a:rPr>
              <a:t>A giant hook that does everything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5257800"/>
            <a:ext cx="10927080" cy="1051560"/>
          </a:xfrm>
          <a:prstGeom prst="roundRect">
            <a:avLst/>
          </a:prstGeom>
          <a:solidFill>
            <a:srgbClr val="FDF4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5257800"/>
            <a:ext cx="118872" cy="1051560"/>
          </a:xfrm>
          <a:prstGeom prst="rect">
            <a:avLst/>
          </a:prstGeom>
          <a:solidFill>
            <a:srgbClr val="C97A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5385816"/>
            <a:ext cx="10241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C97A0E"/>
                </a:solidFill>
                <a:latin typeface="Plus Jakarta Sans"/>
              </a:rPr>
              <a:t>⚠  WATCH 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5715000"/>
            <a:ext cx="104241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2433"/>
                </a:solidFill>
                <a:latin typeface="Inter"/>
              </a:rPr>
              <a:t>Without as const, [on, toggle] widens to (boolean | (() =&gt; void))[] — add as const to keep exact tuple types.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23</a:t>
            </a:r>
          </a:p>
        </p:txBody>
      </p:sp>
      <p:sp>
        <p:nvSpPr>
          <p:cNvPr id="7" name="Oval 6"/>
          <p:cNvSpPr/>
          <p:nvPr/>
        </p:nvSpPr>
        <p:spPr>
          <a:xfrm>
            <a:off x="658368" y="189280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187451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Custom hooks reuse stateful logic, not markup</a:t>
            </a:r>
          </a:p>
        </p:txBody>
      </p:sp>
      <p:sp>
        <p:nvSpPr>
          <p:cNvPr id="9" name="Oval 8"/>
          <p:cNvSpPr/>
          <p:nvPr/>
        </p:nvSpPr>
        <p:spPr>
          <a:xfrm>
            <a:off x="658368" y="276148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74319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Follow the rules: top level, use prefix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363016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1187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Extract when logic repeats or clutters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449884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48055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Generics make one hook fit every type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5367527"/>
            <a:ext cx="365760" cy="365760"/>
          </a:xfrm>
          <a:prstGeom prst="ellipse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5349239"/>
            <a:ext cx="1024128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2433"/>
                </a:solidFill>
                <a:latin typeface="Inter"/>
              </a:rPr>
              <a:t>Tuple for two values; object for several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331720"/>
            <a:ext cx="45720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600" b="1" i="0">
                <a:solidFill>
                  <a:srgbClr val="1E3A5C"/>
                </a:solidFill>
                <a:latin typeface="Plus Jakarta Sans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6112" y="3703320"/>
            <a:ext cx="1042416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600"/>
              </a:spcAft>
            </a:pPr>
            <a:r>
              <a:rPr sz="3800" b="1" i="0">
                <a:solidFill>
                  <a:srgbClr val="FFFFFF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3520440"/>
            <a:ext cx="1463040" cy="73152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Where must you call hooks?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Inside loops for each item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At the top level of a React function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Only inside useEffect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Anywhere at all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2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What must a custom hook’s name start with?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hook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React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3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You return three named values from a hook. Best shape?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tuple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An object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A string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Three separate returns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Question 4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783080"/>
            <a:ext cx="108813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1" i="0">
                <a:solidFill>
                  <a:srgbClr val="1A2433"/>
                </a:solidFill>
                <a:latin typeface="Plus Jakarta Sans"/>
              </a:rPr>
              <a:t>Why add  as const  to a returned tuple?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2971800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68680" y="3108960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2971800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 runs faster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813048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8680" y="3950208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08760" y="3813048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To keep exact, per-position types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4654296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68680" y="4791456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4654296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It’s required syntax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495544"/>
            <a:ext cx="10881360" cy="713232"/>
          </a:xfrm>
          <a:prstGeom prst="roundRect">
            <a:avLst/>
          </a:prstGeom>
          <a:solidFill>
            <a:srgbClr val="F5F8FB"/>
          </a:solidFill>
          <a:ln w="12700">
            <a:solidFill>
              <a:srgbClr val="DDE6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68680" y="5632704"/>
            <a:ext cx="438912" cy="438912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Plus Jakarta Sans"/>
              </a:rPr>
              <a:t>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495544"/>
            <a:ext cx="97840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2433"/>
                </a:solidFill>
                <a:latin typeface="Inter"/>
              </a:rPr>
              <a:t>To make it mutable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881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0B6D8C"/>
                </a:solidFill>
                <a:latin typeface="Plus Jakarta Sans"/>
              </a:rPr>
              <a:t>CHECK YOUR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0B1F3A"/>
                </a:solidFill>
                <a:latin typeface="Plus Jakarta Sans"/>
              </a:rPr>
              <a:t>Answer key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36192"/>
            <a:ext cx="1463040" cy="64008"/>
          </a:xfrm>
          <a:prstGeom prst="rect">
            <a:avLst/>
          </a:prstGeom>
          <a:solidFill>
            <a:srgbClr val="149E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6419088"/>
            <a:ext cx="868680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0" i="0">
                <a:solidFill>
                  <a:srgbClr val="475569"/>
                </a:solidFill>
                <a:latin typeface="Inter"/>
              </a:rPr>
              <a:t>React.js + TypeScript Training  -  Custom Hooks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19088"/>
            <a:ext cx="777240" cy="320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900" b="1" i="0">
                <a:solidFill>
                  <a:srgbClr val="475569"/>
                </a:solidFill>
                <a:latin typeface="Inter"/>
              </a:rPr>
              <a:t>29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1783080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68680" y="2002536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901952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Q1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Hooks must run at the top level, in the same order each render.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843784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" y="3063240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962656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Q2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The use prefix is how React knows it’s a hook.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3904488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68680" y="4123944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4023360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Q3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An object gives each of several values a clear name.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965192"/>
            <a:ext cx="10881360" cy="932688"/>
          </a:xfrm>
          <a:prstGeom prst="roundRect">
            <a:avLst/>
          </a:prstGeom>
          <a:solidFill>
            <a:srgbClr val="F5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" y="5184648"/>
            <a:ext cx="502920" cy="502920"/>
          </a:xfrm>
          <a:prstGeom prst="ellipse">
            <a:avLst/>
          </a:prstGeom>
          <a:solidFill>
            <a:srgbClr val="1E9E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700" b="1">
                <a:solidFill>
                  <a:srgbClr val="FFFFFF"/>
                </a:solidFill>
                <a:latin typeface="Plus Jakarta Sans"/>
              </a:rPr>
              <a:t>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5084064"/>
            <a:ext cx="969264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0B6D8C"/>
                </a:solidFill>
                <a:latin typeface="Plus Jakarta Sans"/>
              </a:rPr>
              <a:t>Q4  </a:t>
            </a:r>
            <a:r>
              <a:rPr sz="1500" b="0" i="0">
                <a:solidFill>
                  <a:srgbClr val="1A2433"/>
                </a:solidFill>
                <a:latin typeface="Inter"/>
              </a:rPr>
              <a:t>as const locks the tuple’s exact element types and length.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